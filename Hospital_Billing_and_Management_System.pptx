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embeddedFontLst>
    <p:embeddedFont>
      <p:font typeface="Inter" panose="020B0604020202020204" charset="0"/>
      <p:regular r:id="rId9"/>
    </p:embeddedFont>
    <p:embeddedFont>
      <p:font typeface="Inter Bold" panose="020B0604020202020204" charset="0"/>
      <p:regular r:id="rId10"/>
    </p:embeddedFont>
    <p:embeddedFont>
      <p:font typeface="Open Sans" panose="020B0606030504020204" pitchFamily="34" charset="0"/>
      <p:regular r:id="rId11"/>
      <p:bold r:id="rId12"/>
    </p:embeddedFont>
    <p:embeddedFont>
      <p:font typeface="Unbounded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846C"/>
    <a:srgbClr val="9CCCC1"/>
    <a:srgbClr val="26A688"/>
    <a:srgbClr val="333F70"/>
    <a:srgbClr val="2CBE9B"/>
    <a:srgbClr val="B1CA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729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39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31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B3044F-933D-2C78-7D2B-147FADDBC5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8127" y="73595"/>
            <a:ext cx="1503567" cy="53161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F0EBB7-046D-058D-D3E9-C1603642EF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25" t="15077" b="14698"/>
          <a:stretch>
            <a:fillRect/>
          </a:stretch>
        </p:blipFill>
        <p:spPr>
          <a:xfrm>
            <a:off x="7439025" y="0"/>
            <a:ext cx="4752975" cy="69532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6" y="1917502"/>
            <a:ext cx="2338900" cy="287139"/>
          </a:xfrm>
          <a:prstGeom prst="roundRect">
            <a:avLst>
              <a:gd name="adj" fmla="val 22118"/>
            </a:avLst>
          </a:prstGeom>
          <a:solidFill>
            <a:srgbClr val="D6F5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4879" y="1974155"/>
            <a:ext cx="325101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MICROSOFT EXCEL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4" y="2280245"/>
            <a:ext cx="6596575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Hospital Billing &amp; Management System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4" y="368056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hospital data, billing, and performance insights for healthcare teams developed by </a:t>
            </a:r>
            <a:r>
              <a:rPr lang="en-US" sz="145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Shreyasree</a:t>
            </a: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Mete, Srijita Das &amp; Mridul Manjhi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36391C-23B2-E249-07C5-C6F2CFD3A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70" y="116725"/>
            <a:ext cx="1710656" cy="6048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247643B-AD8D-BC2D-52FC-0A84745BB4D7}"/>
              </a:ext>
            </a:extLst>
          </p:cNvPr>
          <p:cNvSpPr/>
          <p:nvPr/>
        </p:nvSpPr>
        <p:spPr>
          <a:xfrm>
            <a:off x="661628" y="3726491"/>
            <a:ext cx="3355920" cy="1657259"/>
          </a:xfrm>
          <a:prstGeom prst="roundRect">
            <a:avLst/>
          </a:prstGeom>
          <a:solidFill>
            <a:srgbClr val="26A688"/>
          </a:solidFill>
          <a:ln w="28575">
            <a:solidFill>
              <a:srgbClr val="26A6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A6042EF-3AEE-133F-4470-CCDCF4C373F2}"/>
              </a:ext>
            </a:extLst>
          </p:cNvPr>
          <p:cNvSpPr/>
          <p:nvPr/>
        </p:nvSpPr>
        <p:spPr>
          <a:xfrm>
            <a:off x="4235146" y="3726492"/>
            <a:ext cx="3665086" cy="1660882"/>
          </a:xfrm>
          <a:prstGeom prst="roundRect">
            <a:avLst/>
          </a:prstGeom>
          <a:solidFill>
            <a:srgbClr val="26A688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9E500F9-388D-CE82-8A7F-31B8FBD3E183}"/>
              </a:ext>
            </a:extLst>
          </p:cNvPr>
          <p:cNvGrpSpPr/>
          <p:nvPr/>
        </p:nvGrpSpPr>
        <p:grpSpPr>
          <a:xfrm>
            <a:off x="661628" y="1424898"/>
            <a:ext cx="2067667" cy="246856"/>
            <a:chOff x="661475" y="546695"/>
            <a:chExt cx="2067667" cy="246856"/>
          </a:xfrm>
        </p:grpSpPr>
        <p:sp>
          <p:nvSpPr>
            <p:cNvPr id="2" name="Shape 0"/>
            <p:cNvSpPr/>
            <p:nvPr/>
          </p:nvSpPr>
          <p:spPr>
            <a:xfrm>
              <a:off x="661475" y="546695"/>
              <a:ext cx="1555513" cy="246856"/>
            </a:xfrm>
            <a:prstGeom prst="roundRect">
              <a:avLst>
                <a:gd name="adj" fmla="val 22110"/>
              </a:avLst>
            </a:prstGeom>
            <a:noFill/>
            <a:ln w="6350">
              <a:solidFill>
                <a:srgbClr val="26A6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Text 1"/>
            <p:cNvSpPr/>
            <p:nvPr/>
          </p:nvSpPr>
          <p:spPr>
            <a:xfrm>
              <a:off x="758905" y="595412"/>
              <a:ext cx="1970237" cy="1494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dirty="0">
                  <a:solidFill>
                    <a:srgbClr val="26A688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PROBLEM STATEMENT</a:t>
              </a:r>
              <a:endParaRPr lang="en-US" sz="10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661476" y="1783949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00" dirty="0">
                <a:solidFill>
                  <a:srgbClr val="333F70"/>
                </a:solidFill>
                <a:latin typeface="Unbounded Bold" panose="020B0604020202020204" charset="0"/>
              </a:rPr>
              <a:t>Problems in Hospital Data Management</a:t>
            </a:r>
            <a:endParaRPr lang="en-US" sz="3150" dirty="0">
              <a:solidFill>
                <a:srgbClr val="333F70"/>
              </a:solidFill>
              <a:latin typeface="Unbounded Bold" panose="020B060402020202020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AD2779-9D48-1806-8996-0ACDD7038E50}"/>
              </a:ext>
            </a:extLst>
          </p:cNvPr>
          <p:cNvSpPr txBox="1"/>
          <p:nvPr/>
        </p:nvSpPr>
        <p:spPr>
          <a:xfrm>
            <a:off x="609008" y="2340043"/>
            <a:ext cx="10685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272525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Hospitals generate massive volumes of operational and financial data daily. Managing patient information, admissions, prescriptions, insurance records, and billing manually leads to inefficiencies, delayed reporting, and poor decision-making.</a:t>
            </a:r>
            <a:endParaRPr lang="en-US" sz="11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E3D0986-F323-662C-6BA4-7BD52C989270}"/>
              </a:ext>
            </a:extLst>
          </p:cNvPr>
          <p:cNvSpPr/>
          <p:nvPr/>
        </p:nvSpPr>
        <p:spPr>
          <a:xfrm>
            <a:off x="476250" y="4562475"/>
            <a:ext cx="3358068" cy="1943100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33F0FF-5418-0E1C-31B4-24B3787F882C}"/>
              </a:ext>
            </a:extLst>
          </p:cNvPr>
          <p:cNvSpPr/>
          <p:nvPr/>
        </p:nvSpPr>
        <p:spPr>
          <a:xfrm>
            <a:off x="4096322" y="4555775"/>
            <a:ext cx="3559535" cy="1943100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8D3A685-7ACD-484B-53F2-8DCE0F68EF11}"/>
              </a:ext>
            </a:extLst>
          </p:cNvPr>
          <p:cNvSpPr/>
          <p:nvPr/>
        </p:nvSpPr>
        <p:spPr>
          <a:xfrm>
            <a:off x="8083461" y="3681545"/>
            <a:ext cx="3446760" cy="1703921"/>
          </a:xfrm>
          <a:prstGeom prst="roundRect">
            <a:avLst/>
          </a:prstGeom>
          <a:solidFill>
            <a:srgbClr val="26A688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6EB539-046E-484D-F72A-0BCDE25EB4A9}"/>
              </a:ext>
            </a:extLst>
          </p:cNvPr>
          <p:cNvSpPr txBox="1"/>
          <p:nvPr/>
        </p:nvSpPr>
        <p:spPr>
          <a:xfrm>
            <a:off x="864600" y="4339510"/>
            <a:ext cx="2879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Patient, billing, insurance, and admission data are stored across multiple records, making information retrieval slow and increasing the risk of inconsistencies.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7CA26-FAC9-EB79-CDB8-0A29EC2648B7}"/>
              </a:ext>
            </a:extLst>
          </p:cNvPr>
          <p:cNvSpPr txBox="1"/>
          <p:nvPr/>
        </p:nvSpPr>
        <p:spPr>
          <a:xfrm>
            <a:off x="5156371" y="4003672"/>
            <a:ext cx="1734206" cy="337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Slow Reporting</a:t>
            </a:r>
            <a:endParaRPr lang="en-US" sz="1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A03048-86D3-EC0D-7D54-D70F87521050}"/>
              </a:ext>
            </a:extLst>
          </p:cNvPr>
          <p:cNvSpPr txBox="1"/>
          <p:nvPr/>
        </p:nvSpPr>
        <p:spPr>
          <a:xfrm>
            <a:off x="4414757" y="4355942"/>
            <a:ext cx="324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Manual report preparation is time-consuming and prone to errors, delaying operational insights and management decisions.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E42F59-E274-3A98-DEED-BB7A66EF38A5}"/>
              </a:ext>
            </a:extLst>
          </p:cNvPr>
          <p:cNvSpPr txBox="1"/>
          <p:nvPr/>
        </p:nvSpPr>
        <p:spPr>
          <a:xfrm>
            <a:off x="9018913" y="3958338"/>
            <a:ext cx="1696852" cy="337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Poor Visibility</a:t>
            </a:r>
            <a:endParaRPr lang="en-US" sz="1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5F0ECB-A68B-164C-C2F8-FA0C36B44893}"/>
              </a:ext>
            </a:extLst>
          </p:cNvPr>
          <p:cNvSpPr txBox="1"/>
          <p:nvPr/>
        </p:nvSpPr>
        <p:spPr>
          <a:xfrm>
            <a:off x="1155198" y="4003672"/>
            <a:ext cx="24581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Fragmented Records</a:t>
            </a:r>
            <a:endParaRPr lang="en-US" sz="1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16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F8C2E04-9917-CFEE-1029-C8427E9A0B69}"/>
              </a:ext>
            </a:extLst>
          </p:cNvPr>
          <p:cNvGrpSpPr/>
          <p:nvPr/>
        </p:nvGrpSpPr>
        <p:grpSpPr>
          <a:xfrm>
            <a:off x="9460187" y="3312043"/>
            <a:ext cx="693308" cy="691629"/>
            <a:chOff x="9445046" y="3709357"/>
            <a:chExt cx="693308" cy="691629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D51D65B-C4AE-37E0-0D4B-42CF3289B2A2}"/>
                </a:ext>
              </a:extLst>
            </p:cNvPr>
            <p:cNvSpPr/>
            <p:nvPr/>
          </p:nvSpPr>
          <p:spPr>
            <a:xfrm>
              <a:off x="9445046" y="3709357"/>
              <a:ext cx="693308" cy="691629"/>
            </a:xfrm>
            <a:prstGeom prst="ellipse">
              <a:avLst/>
            </a:prstGeom>
            <a:solidFill>
              <a:srgbClr val="1E84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B7412F3-C60C-D5D2-12A1-64B4B9C3E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15286" y="3889799"/>
              <a:ext cx="354310" cy="35431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36018DB-A6AF-3E04-0114-3DC985A014EC}"/>
              </a:ext>
            </a:extLst>
          </p:cNvPr>
          <p:cNvGrpSpPr/>
          <p:nvPr/>
        </p:nvGrpSpPr>
        <p:grpSpPr>
          <a:xfrm>
            <a:off x="5639322" y="3340489"/>
            <a:ext cx="693308" cy="691629"/>
            <a:chOff x="5594073" y="3721086"/>
            <a:chExt cx="693308" cy="691629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7E2E8D9-92BE-2586-9EC9-D674DB1D54AB}"/>
                </a:ext>
              </a:extLst>
            </p:cNvPr>
            <p:cNvSpPr/>
            <p:nvPr/>
          </p:nvSpPr>
          <p:spPr>
            <a:xfrm>
              <a:off x="5594073" y="3721086"/>
              <a:ext cx="693308" cy="691629"/>
            </a:xfrm>
            <a:prstGeom prst="ellipse">
              <a:avLst/>
            </a:prstGeom>
            <a:solidFill>
              <a:srgbClr val="1E84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DA00A5-9287-EE42-4BAC-86B7EB76A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5777303" y="3904808"/>
              <a:ext cx="337465" cy="337465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2FDFFBC-C648-FA66-6A93-40DEB7BF1967}"/>
              </a:ext>
            </a:extLst>
          </p:cNvPr>
          <p:cNvGrpSpPr/>
          <p:nvPr/>
        </p:nvGrpSpPr>
        <p:grpSpPr>
          <a:xfrm>
            <a:off x="1923294" y="3347128"/>
            <a:ext cx="693308" cy="691629"/>
            <a:chOff x="1869706" y="3733391"/>
            <a:chExt cx="693308" cy="69162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6F08023-106B-0AF3-F2FE-2ABF3C5F5F79}"/>
                </a:ext>
              </a:extLst>
            </p:cNvPr>
            <p:cNvSpPr/>
            <p:nvPr/>
          </p:nvSpPr>
          <p:spPr>
            <a:xfrm>
              <a:off x="1869706" y="3733391"/>
              <a:ext cx="693308" cy="691629"/>
            </a:xfrm>
            <a:prstGeom prst="ellipse">
              <a:avLst/>
            </a:prstGeom>
            <a:solidFill>
              <a:srgbClr val="1E846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F11D36E-6099-2940-F6F6-AD49B1709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62770" y="3936930"/>
              <a:ext cx="307179" cy="307179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DF88625-59A1-54EF-DCB7-C2F806A7D7C7}"/>
              </a:ext>
            </a:extLst>
          </p:cNvPr>
          <p:cNvSpPr txBox="1"/>
          <p:nvPr/>
        </p:nvSpPr>
        <p:spPr>
          <a:xfrm>
            <a:off x="8298499" y="4305190"/>
            <a:ext cx="3013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Without a centralized dashboard, tracking revenue, admissions, payments, and department performance becomes difficult.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612" y="1063814"/>
            <a:ext cx="7248377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anose="020B0604020202020204" charset="0"/>
                <a:ea typeface="Inter Bold" pitchFamily="34" charset="-122"/>
                <a:cs typeface="Inter Bold" pitchFamily="34" charset="-120"/>
              </a:rPr>
              <a:t>Key Challenges Addressed</a:t>
            </a:r>
            <a:endParaRPr lang="en-US" sz="4000" dirty="0">
              <a:solidFill>
                <a:srgbClr val="333F70"/>
              </a:solidFill>
              <a:latin typeface="Unbounded Bold" panose="020B0604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2496147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Unified Data Management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61627" y="2710916"/>
            <a:ext cx="5338728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Consolidating multiple hospital datasets into a single, structured system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195544" y="2502225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Admission &amp; Billing Tracking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191492" y="2739831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Monitoring patient admissions and billing records in real time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61627" y="3830968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Department Performance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61475" y="4084945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Tracking doctor activity and department-level operational metrics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191492" y="3826240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Insurance &amp; Payments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6191492" y="4044128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Handling insurance claims and payment status efficiently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57781" y="5118319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Rapid Report Generation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661475" y="5359153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Producing management-ready reports quickly and accurately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6184104" y="5102050"/>
            <a:ext cx="533872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Data-to-Insight Conversion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6180410" y="5378656"/>
            <a:ext cx="533872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Transforming raw Excel data into meaningful, actionable insights</a:t>
            </a:r>
            <a:endParaRPr lang="en-US" sz="13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F99A96E-457D-EBE9-C05F-8E22C2598ACE}"/>
              </a:ext>
            </a:extLst>
          </p:cNvPr>
          <p:cNvGrpSpPr/>
          <p:nvPr/>
        </p:nvGrpSpPr>
        <p:grpSpPr>
          <a:xfrm>
            <a:off x="6191492" y="1988343"/>
            <a:ext cx="457200" cy="439737"/>
            <a:chOff x="6137736" y="1902618"/>
            <a:chExt cx="457200" cy="439737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DAE8145-2D6C-DA81-BC5A-062F77F441DB}"/>
                </a:ext>
              </a:extLst>
            </p:cNvPr>
            <p:cNvSpPr/>
            <p:nvPr/>
          </p:nvSpPr>
          <p:spPr>
            <a:xfrm>
              <a:off x="6137736" y="1902618"/>
              <a:ext cx="457200" cy="439737"/>
            </a:xfrm>
            <a:prstGeom prst="ellipse">
              <a:avLst/>
            </a:prstGeom>
            <a:solidFill>
              <a:srgbClr val="26A6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4F39EF3-EA67-35A3-25DB-A0FB68A89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6914" y="2007208"/>
              <a:ext cx="249209" cy="24920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420BDB8-0E5E-ADD2-D8BB-0331137A45CA}"/>
              </a:ext>
            </a:extLst>
          </p:cNvPr>
          <p:cNvGrpSpPr/>
          <p:nvPr/>
        </p:nvGrpSpPr>
        <p:grpSpPr>
          <a:xfrm>
            <a:off x="661627" y="1988344"/>
            <a:ext cx="457200" cy="439737"/>
            <a:chOff x="661627" y="1902619"/>
            <a:chExt cx="457200" cy="43973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19D07B6-848B-26AC-6F06-F33C361F5BA8}"/>
                </a:ext>
              </a:extLst>
            </p:cNvPr>
            <p:cNvSpPr/>
            <p:nvPr/>
          </p:nvSpPr>
          <p:spPr>
            <a:xfrm>
              <a:off x="661627" y="1902619"/>
              <a:ext cx="457200" cy="439737"/>
            </a:xfrm>
            <a:prstGeom prst="ellipse">
              <a:avLst/>
            </a:prstGeom>
            <a:solidFill>
              <a:srgbClr val="26A6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0DFF66E-0EA6-BA55-4113-FF3394CC1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1712" y="2010566"/>
              <a:ext cx="239501" cy="239501"/>
            </a:xfrm>
            <a:prstGeom prst="rect">
              <a:avLst/>
            </a:prstGeom>
          </p:spPr>
        </p:pic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F24CAA83-6F51-C72D-1853-0C4E89C95A72}"/>
              </a:ext>
            </a:extLst>
          </p:cNvPr>
          <p:cNvSpPr/>
          <p:nvPr/>
        </p:nvSpPr>
        <p:spPr>
          <a:xfrm>
            <a:off x="642612" y="3262718"/>
            <a:ext cx="457200" cy="439737"/>
          </a:xfrm>
          <a:prstGeom prst="ellipse">
            <a:avLst/>
          </a:prstGeom>
          <a:solidFill>
            <a:srgbClr val="26A6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3EB4975-AE3B-066E-8D7D-1E6A72A001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27" y="3349612"/>
            <a:ext cx="274461" cy="274461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83B0FB49-C653-B368-7E91-B45CC50EF25B}"/>
              </a:ext>
            </a:extLst>
          </p:cNvPr>
          <p:cNvGrpSpPr/>
          <p:nvPr/>
        </p:nvGrpSpPr>
        <p:grpSpPr>
          <a:xfrm>
            <a:off x="642612" y="4555330"/>
            <a:ext cx="457200" cy="439737"/>
            <a:chOff x="657781" y="4634654"/>
            <a:chExt cx="457200" cy="439737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FB95BF37-AA12-8B44-9DEA-92705766A144}"/>
                </a:ext>
              </a:extLst>
            </p:cNvPr>
            <p:cNvSpPr/>
            <p:nvPr/>
          </p:nvSpPr>
          <p:spPr>
            <a:xfrm>
              <a:off x="657781" y="4634654"/>
              <a:ext cx="457200" cy="439737"/>
            </a:xfrm>
            <a:prstGeom prst="ellipse">
              <a:avLst/>
            </a:prstGeom>
            <a:solidFill>
              <a:srgbClr val="26A6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D5EF43B1-26E4-8D1E-391D-F7ED81348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782443" y="4745383"/>
              <a:ext cx="234486" cy="234486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F9CE544-DA20-7E11-2D8F-780658E3008F}"/>
              </a:ext>
            </a:extLst>
          </p:cNvPr>
          <p:cNvGrpSpPr/>
          <p:nvPr/>
        </p:nvGrpSpPr>
        <p:grpSpPr>
          <a:xfrm>
            <a:off x="6191492" y="3262718"/>
            <a:ext cx="457200" cy="439737"/>
            <a:chOff x="6191492" y="3361778"/>
            <a:chExt cx="457200" cy="439737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033FC57-26AD-81D2-7F16-0138E73CE653}"/>
                </a:ext>
              </a:extLst>
            </p:cNvPr>
            <p:cNvSpPr/>
            <p:nvPr/>
          </p:nvSpPr>
          <p:spPr>
            <a:xfrm>
              <a:off x="6191492" y="3361778"/>
              <a:ext cx="457200" cy="439737"/>
            </a:xfrm>
            <a:prstGeom prst="ellipse">
              <a:avLst/>
            </a:prstGeom>
            <a:solidFill>
              <a:srgbClr val="26A6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0A36B8BF-5DE8-6EE4-CBD6-D6D44DAFA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92576" y="3462958"/>
              <a:ext cx="251035" cy="251035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2C61759-279F-26D9-D17A-D19F27523A20}"/>
              </a:ext>
            </a:extLst>
          </p:cNvPr>
          <p:cNvGrpSpPr/>
          <p:nvPr/>
        </p:nvGrpSpPr>
        <p:grpSpPr>
          <a:xfrm>
            <a:off x="6189493" y="4554797"/>
            <a:ext cx="457200" cy="439737"/>
            <a:chOff x="6191492" y="4719883"/>
            <a:chExt cx="457200" cy="439737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E8DC99E-2AFF-3B97-80DF-51DBCE60D521}"/>
                </a:ext>
              </a:extLst>
            </p:cNvPr>
            <p:cNvSpPr/>
            <p:nvPr/>
          </p:nvSpPr>
          <p:spPr>
            <a:xfrm>
              <a:off x="6191492" y="4719883"/>
              <a:ext cx="457200" cy="439737"/>
            </a:xfrm>
            <a:prstGeom prst="ellipse">
              <a:avLst/>
            </a:prstGeom>
            <a:solidFill>
              <a:srgbClr val="26A68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39D0D9B1-E23C-AB18-C15E-1F461746D99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97515" y="4828295"/>
              <a:ext cx="246096" cy="2460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73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049" y="535287"/>
            <a:ext cx="1576901" cy="252908"/>
          </a:xfrm>
          <a:prstGeom prst="roundRect">
            <a:avLst>
              <a:gd name="adj" fmla="val 22127"/>
            </a:avLst>
          </a:prstGeom>
          <a:noFill/>
          <a:ln>
            <a:solidFill>
              <a:srgbClr val="26A688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7077" y="586432"/>
            <a:ext cx="1329194" cy="122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DESIGN</a:t>
            </a:r>
            <a:endParaRPr lang="en-US" sz="1050" dirty="0">
              <a:solidFill>
                <a:srgbClr val="26A688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816471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Hospital Dashboard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90049" y="1408460"/>
            <a:ext cx="6926883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view with KPI cards, charts, and slicers.</a:t>
            </a:r>
            <a:endParaRPr lang="en-US" sz="1000" dirty="0">
              <a:solidFill>
                <a:srgbClr val="333F70"/>
              </a:solidFill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62619" y="1602398"/>
            <a:ext cx="238484" cy="2384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55307" y="1606633"/>
            <a:ext cx="2451151" cy="248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KPI Metrics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55305" y="1844117"/>
            <a:ext cx="2451151" cy="216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Occupancy, revenue, and patient counts.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2619" y="2300302"/>
            <a:ext cx="238484" cy="2384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55307" y="2304538"/>
            <a:ext cx="2451151" cy="248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Analysis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355307" y="2552882"/>
            <a:ext cx="2451151" cy="216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Department and monthly breakdowns.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2619" y="2998207"/>
            <a:ext cx="238484" cy="2384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55307" y="3002443"/>
            <a:ext cx="2451151" cy="248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Payment Status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355306" y="3256528"/>
            <a:ext cx="2451151" cy="216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Pending, completed, and claims.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2619" y="3696112"/>
            <a:ext cx="238484" cy="23849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5307" y="3700347"/>
            <a:ext cx="2451151" cy="248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Disease Distribution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355307" y="3945993"/>
            <a:ext cx="2451151" cy="216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Diagnosis mix at a glance.</a:t>
            </a:r>
            <a:endParaRPr lang="en-US" sz="14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62619" y="4394016"/>
            <a:ext cx="238484" cy="23849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55307" y="4398252"/>
            <a:ext cx="2451151" cy="248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Doctor Experience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355304" y="4634105"/>
            <a:ext cx="3019619" cy="216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No. of doctors and their experience</a:t>
            </a:r>
            <a:endParaRPr lang="en-US" sz="14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2619" y="5091921"/>
            <a:ext cx="238484" cy="23849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355307" y="5096157"/>
            <a:ext cx="2451151" cy="248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Admission Trends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8355307" y="5342674"/>
            <a:ext cx="2451151" cy="216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Patient flow over time with insurance covered</a:t>
            </a:r>
            <a:endParaRPr lang="en-US" sz="140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2619" y="5789826"/>
            <a:ext cx="238484" cy="23849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355307" y="5794062"/>
            <a:ext cx="2451151" cy="248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Interactive Charts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8355307" y="6027216"/>
            <a:ext cx="2451151" cy="216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Filterable, drill-down reports.</a:t>
            </a:r>
            <a:endParaRPr lang="en-US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B336E1-0586-8999-16C5-E37BFBF54F3B}"/>
              </a:ext>
            </a:extLst>
          </p:cNvPr>
          <p:cNvSpPr/>
          <p:nvPr/>
        </p:nvSpPr>
        <p:spPr>
          <a:xfrm>
            <a:off x="690049" y="1784394"/>
            <a:ext cx="7056472" cy="4412986"/>
          </a:xfrm>
          <a:prstGeom prst="roundRect">
            <a:avLst>
              <a:gd name="adj" fmla="val 5223"/>
            </a:avLst>
          </a:prstGeom>
          <a:noFill/>
          <a:ln w="28575">
            <a:solidFill>
              <a:srgbClr val="26A6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A75D586-54AD-C50E-27D8-FF44F45E17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077" y="2000453"/>
            <a:ext cx="6799855" cy="40834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1025CAD-8EE1-7A53-4E64-825FEA1467DB}"/>
              </a:ext>
            </a:extLst>
          </p:cNvPr>
          <p:cNvGrpSpPr/>
          <p:nvPr/>
        </p:nvGrpSpPr>
        <p:grpSpPr>
          <a:xfrm>
            <a:off x="661475" y="884650"/>
            <a:ext cx="1561025" cy="231477"/>
            <a:chOff x="661475" y="431800"/>
            <a:chExt cx="1561025" cy="231477"/>
          </a:xfrm>
        </p:grpSpPr>
        <p:sp>
          <p:nvSpPr>
            <p:cNvPr id="2" name="Shape 0"/>
            <p:cNvSpPr/>
            <p:nvPr/>
          </p:nvSpPr>
          <p:spPr>
            <a:xfrm>
              <a:off x="661475" y="431800"/>
              <a:ext cx="1561025" cy="231477"/>
            </a:xfrm>
            <a:prstGeom prst="roundRect">
              <a:avLst>
                <a:gd name="adj" fmla="val 22134"/>
              </a:avLst>
            </a:prstGeom>
            <a:noFill/>
            <a:ln w="6350">
              <a:solidFill>
                <a:srgbClr val="26A6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Text 1"/>
            <p:cNvSpPr/>
            <p:nvPr/>
          </p:nvSpPr>
          <p:spPr>
            <a:xfrm>
              <a:off x="814585" y="477546"/>
              <a:ext cx="1242816" cy="1331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96000"/>
                </a:lnSpc>
                <a:buNone/>
              </a:pPr>
              <a:r>
                <a:rPr lang="en-US" sz="1050" dirty="0">
                  <a:solidFill>
                    <a:srgbClr val="26A688"/>
                  </a:solidFill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PROJECT OUTCOME</a:t>
              </a:r>
              <a:endParaRPr lang="en-US" sz="105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661475" y="119050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From Raw Data to Better Decisions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61475" y="1646467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dashboard turns hospital records into clear, actionable intelligence through a five-stage pipeline.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266" y="961958"/>
            <a:ext cx="10069161" cy="61421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5087" y="2159467"/>
            <a:ext cx="2294776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Raw Data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816708" y="4686307"/>
            <a:ext cx="2294777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Excel Prep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019834" y="2582381"/>
            <a:ext cx="2369327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241772" y="5257425"/>
            <a:ext cx="2294777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Insights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485432" y="3346765"/>
            <a:ext cx="2294777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Decisions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61475" y="7409954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bottlenecks are replaced with automation, live KPIs, and visual reports for faster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627" y="106432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333F70"/>
                </a:solidFill>
                <a:latin typeface="Unbounded Bold" panose="020B0604020202020204" charset="0"/>
                <a:ea typeface="Inter Bold" pitchFamily="34" charset="-122"/>
                <a:cs typeface="Inter Bold" pitchFamily="34" charset="-120"/>
              </a:rPr>
              <a:t>Benefits &amp; Impact</a:t>
            </a:r>
            <a:endParaRPr lang="en-US" sz="4000" dirty="0">
              <a:solidFill>
                <a:srgbClr val="333F70"/>
              </a:solidFill>
              <a:latin typeface="Unbounded Bold" panose="020B0604020202020204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482" y="1755627"/>
            <a:ext cx="226808" cy="2268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20248" y="1751014"/>
            <a:ext cx="532037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Reduces Manual Effort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320248" y="2108201"/>
            <a:ext cx="532037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calculations and structured records minimize data entry errors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482" y="2572396"/>
            <a:ext cx="226808" cy="22681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20248" y="2567782"/>
            <a:ext cx="532037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Accelerates Decision-Making</a:t>
            </a:r>
            <a:endParaRPr lang="en-US" sz="1450" dirty="0"/>
          </a:p>
        </p:txBody>
      </p:sp>
      <p:sp>
        <p:nvSpPr>
          <p:cNvPr id="9" name="Text 4"/>
          <p:cNvSpPr/>
          <p:nvPr/>
        </p:nvSpPr>
        <p:spPr>
          <a:xfrm>
            <a:off x="1320248" y="2924970"/>
            <a:ext cx="5320373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dashboards give administrators the insights they need, when they need them</a:t>
            </a:r>
            <a:endParaRPr lang="en-US" sz="11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482" y="3606851"/>
            <a:ext cx="226808" cy="2268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20248" y="3602237"/>
            <a:ext cx="532037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Simplifies Financial Analysis</a:t>
            </a:r>
            <a:endParaRPr lang="en-US" sz="1450" dirty="0"/>
          </a:p>
        </p:txBody>
      </p:sp>
      <p:sp>
        <p:nvSpPr>
          <p:cNvPr id="12" name="Text 6"/>
          <p:cNvSpPr/>
          <p:nvPr/>
        </p:nvSpPr>
        <p:spPr>
          <a:xfrm>
            <a:off x="1320248" y="3959425"/>
            <a:ext cx="532037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Billing, revenue, and payment data visualized in one place</a:t>
            </a:r>
            <a:endParaRPr lang="en-US" sz="11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482" y="4423620"/>
            <a:ext cx="226808" cy="22681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320248" y="4419006"/>
            <a:ext cx="5320373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Scalable &amp; Maintainable</a:t>
            </a:r>
            <a:endParaRPr lang="en-US" sz="1450" dirty="0"/>
          </a:p>
        </p:txBody>
      </p:sp>
      <p:sp>
        <p:nvSpPr>
          <p:cNvPr id="15" name="Text 8"/>
          <p:cNvSpPr/>
          <p:nvPr/>
        </p:nvSpPr>
        <p:spPr>
          <a:xfrm>
            <a:off x="1320248" y="4776193"/>
            <a:ext cx="532037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update and expand as hospital data grows over time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828829" y="5129908"/>
            <a:ext cx="5811791" cy="946348"/>
          </a:xfrm>
          <a:prstGeom prst="roundRect">
            <a:avLst>
              <a:gd name="adj" fmla="val 6711"/>
            </a:avLst>
          </a:prstGeom>
          <a:solidFill>
            <a:srgbClr val="9CCCC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540" y="5310191"/>
            <a:ext cx="189007" cy="15120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320248" y="5276554"/>
            <a:ext cx="5169168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Excel-based dashboard proves that powerful healthcare analytics can be achieved without expensive software — using tools already available in every office.</a:t>
            </a:r>
            <a:endParaRPr lang="en-US" sz="11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06BBC5C-E4C1-24B0-D481-59FAB7DE62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115" r="23334"/>
          <a:stretch>
            <a:fillRect/>
          </a:stretch>
        </p:blipFill>
        <p:spPr>
          <a:xfrm>
            <a:off x="7116226" y="-1502556"/>
            <a:ext cx="5336186" cy="836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630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419</Words>
  <Application>Microsoft Office PowerPoint</Application>
  <PresentationFormat>Widescreen</PresentationFormat>
  <Paragraphs>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Unbounded Bold</vt:lpstr>
      <vt:lpstr>Inter</vt:lpstr>
      <vt:lpstr>Arial</vt:lpstr>
      <vt:lpstr>Open Sans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Mridul</dc:creator>
  <cp:lastModifiedBy>Mridul Manjhi</cp:lastModifiedBy>
  <cp:revision>25</cp:revision>
  <dcterms:created xsi:type="dcterms:W3CDTF">2026-07-11T17:13:14Z</dcterms:created>
  <dcterms:modified xsi:type="dcterms:W3CDTF">2026-07-12T15:30:55Z</dcterms:modified>
</cp:coreProperties>
</file>